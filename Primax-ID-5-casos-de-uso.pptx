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demo por acá. Mostrar la pantalla de onboarding: lista los seis programas con el canal donde viven hoy, y el botón "Unificar mis programas" los vincula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grande es la suma real: 1.240 puntos a S/0.01 más el cupón de sellos de S/5.50.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clave de la demo. Mover el slider de puntos o apagar un beneficio recalcula todo en vivo, incluidos los sellos, que se duplican solo si se paga con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canje sin mínimo se ve en Beneficios. Convierte el saldo en "saldo a favor" y aparece como una fila más en la pantalla de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la demo acá. El memotest se puede jugar en vivo en 30 segundos; el reto AR necesita el marcador impreso.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el orden: la identidad va primero porque sin ID único no hay nada que unificar. El pago va segundo porque es donde está el ahorro visible, pero necesita integración con POS y por eso no puede ser lo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esta lámina es bajar el riesgo percibido: no se toca lo que hoy funciona. Si preguntan por el esfuerzo de integración, la respuesta está en la Fase 0 del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identidad para todos sus programas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cliente hace malabares entre dos apps, tres portales y una tarjeta.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5486400" cy="3794760"/>
          </a:xfrm>
          <a:prstGeom prst="roundRect">
            <a:avLst>
              <a:gd name="adj" fmla="val 3373"/>
            </a:avLst>
          </a:prstGeom>
          <a:solidFill>
            <a:srgbClr val="241A4E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450592"/>
            <a:ext cx="512064" cy="512064"/>
          </a:xfrm>
          <a:prstGeom prst="ellipse">
            <a:avLst/>
          </a:prstGeom>
          <a:solidFill>
            <a:srgbClr val="3A2550"/>
          </a:solidFill>
          <a:ln w="12700">
            <a:solidFill>
              <a:srgbClr val="3A255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55" y="2570927"/>
            <a:ext cx="271394" cy="2713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600200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programa en su propio canal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87552" y="3310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57600" y="3310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Bonus Perú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87552" y="3694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LiSTO!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57600" y="36941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propio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87552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Primax GO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57600" y="4078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propia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87552" y="4462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Primax Card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657600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propio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87552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Primax Gas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657600" y="4846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987552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Lubricantes Shell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657600" y="5230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mostrador de la estación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28232" y="2148840"/>
            <a:ext cx="5120640" cy="3794760"/>
          </a:xfrm>
          <a:prstGeom prst="roundRect">
            <a:avLst>
              <a:gd name="adj" fmla="val 337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748272" y="2450592"/>
            <a:ext cx="512064" cy="512064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607" y="2570927"/>
            <a:ext cx="271394" cy="2713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88352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PRIMAX ID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388352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registro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748272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600" dirty="0"/>
          </a:p>
        </p:txBody>
      </p:sp>
      <p:sp>
        <p:nvSpPr>
          <p:cNvPr id="30" name="Text 25"/>
          <p:cNvSpPr/>
          <p:nvPr/>
        </p:nvSpPr>
        <p:spPr>
          <a:xfrm>
            <a:off x="8001000" y="34015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vinculados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sola cuenta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748272" y="4343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huella o Face ID, una sola vez.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onboarding descubre lo que el cliente ya tiene y lo vincula.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pierde nada de lo acumulado.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ve su propio problema dibujado en pantalla — y resuelto en el mismo paso.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tiene, en una sola cifra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 el cliente sabe cuánto vale lo que acumuló, sumando todos los programas.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4846320" cy="3794760"/>
          </a:xfrm>
          <a:prstGeom prst="roundRect">
            <a:avLst>
              <a:gd name="adj" fmla="val 337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468880"/>
            <a:ext cx="566928" cy="566928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68" y="2602108"/>
            <a:ext cx="300472" cy="300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BILLETERA UNIFICADA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" y="34015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17.90</a:t>
            </a:r>
            <a:endParaRPr lang="en-US" sz="6200" dirty="0"/>
          </a:p>
        </p:txBody>
      </p:sp>
      <p:sp>
        <p:nvSpPr>
          <p:cNvPr id="12" name="Text 8"/>
          <p:cNvSpPr/>
          <p:nvPr/>
        </p:nvSpPr>
        <p:spPr>
          <a:xfrm>
            <a:off x="1005840" y="4480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ahora, entre tres programas distintos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05840" y="5230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S/ 168.40 ahorrados en lo que va del año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852160" y="2148840"/>
            <a:ext cx="5696712" cy="1179576"/>
          </a:xfrm>
          <a:prstGeom prst="roundRect">
            <a:avLst>
              <a:gd name="adj" fmla="val 1085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99632" y="2331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 pts Bonus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23544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12.40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99632" y="27523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Canjeables o para pagar con BonusPaga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52160" y="3456432"/>
            <a:ext cx="5696712" cy="1179576"/>
          </a:xfrm>
          <a:prstGeom prst="roundRect">
            <a:avLst>
              <a:gd name="adj" fmla="val 1085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199632" y="3639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5 sellos LiSTO!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23544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5.50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199632" y="40599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desbloqueado, listo para usar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852160" y="4764024"/>
            <a:ext cx="5696712" cy="1179576"/>
          </a:xfrm>
          <a:prstGeom prst="roundRect">
            <a:avLst>
              <a:gd name="adj" fmla="val 1085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199632" y="4946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activo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235440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1.00 / gal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6199632" y="53675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automático en cada carga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para llegar a este mismo número, el cliente tendría que entrar a tres sitios con tres claves distintas.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código, y la mejor combinación calculada sola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QR sirve en playa, tienda LiSTO! y Primax Gas. La app arma el mejor precio antes de pagar.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5989320" cy="3794760"/>
          </a:xfrm>
          <a:prstGeom prst="roundRect">
            <a:avLst>
              <a:gd name="adj" fmla="val 337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2450592"/>
            <a:ext cx="512064" cy="512064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" y="2570927"/>
            <a:ext cx="271394" cy="2713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G-PREMIUM + CAFÉ Y SÁNDWICH EN LiSTO!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05840" y="3127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80560" y="31272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138.50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005840" y="3675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Primax Card · S/ 1.00 × 5 gal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80560" y="36758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B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S/ 5.00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00584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Sellos LiSTO!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80560" y="42245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B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S/ 5.50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005840" y="4773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BonusPaga · 1,240 puntos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480560" y="47731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B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S/ 12.40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005840" y="5321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 pagar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480560" y="52669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115.60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6931152" y="2148840"/>
            <a:ext cx="4617720" cy="2148840"/>
          </a:xfrm>
          <a:prstGeom prst="roundRect">
            <a:avLst>
              <a:gd name="adj" fmla="val 5957"/>
            </a:avLst>
          </a:prstGeom>
          <a:solidFill>
            <a:srgbClr val="113D2E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26948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D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EN UNA SOLA COMPRA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269480" y="27432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22.90</a:t>
            </a:r>
            <a:endParaRPr lang="en-US" sz="5400" dirty="0"/>
          </a:p>
        </p:txBody>
      </p:sp>
      <p:sp>
        <p:nvSpPr>
          <p:cNvPr id="24" name="Text 20"/>
          <p:cNvSpPr/>
          <p:nvPr/>
        </p:nvSpPr>
        <p:spPr>
          <a:xfrm>
            <a:off x="7269480" y="3675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menos sobre S/ 138.50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931152" y="4498848"/>
            <a:ext cx="4617720" cy="1444752"/>
          </a:xfrm>
          <a:prstGeom prst="roundRect">
            <a:avLst>
              <a:gd name="adj" fmla="val 8861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269480" y="4754880"/>
            <a:ext cx="457200" cy="45720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922" y="4862322"/>
            <a:ext cx="242316" cy="24231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845552" y="4828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la misma compra suma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726948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pts Bonus     +2 sellos LiSTO!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transacción, tres programas actualizados al instante. Hoy son tres credenciales y tres canales separados.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historia, y puntos que siempre sirven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pasó con Primax en una línea de tiempo, y ningún saldo que quede inservible.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5440680" cy="3794760"/>
          </a:xfrm>
          <a:prstGeom prst="roundRect">
            <a:avLst>
              <a:gd name="adj" fmla="val 337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468880"/>
            <a:ext cx="566928" cy="566928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068" y="2602108"/>
            <a:ext cx="300472" cy="300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UNIFICADA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" y="3154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2057400" y="33101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en una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vista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4224528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compra muestra qué programas se movieron y cuánto se ahorró.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filtra por programa sin salir de la pantalla.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tres consultas separadas a tres sistemas.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82512" y="2148840"/>
            <a:ext cx="5166360" cy="3794760"/>
          </a:xfrm>
          <a:prstGeom prst="roundRect">
            <a:avLst>
              <a:gd name="adj" fmla="val 337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29984" y="2468880"/>
            <a:ext cx="566928" cy="566928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212" y="2602108"/>
            <a:ext cx="300472" cy="300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15784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 SIN MÍNIMO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729984" y="3154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1 punto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6729984" y="39136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saldo se convierte en descuento para la próxima compra.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729984" y="46634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solo al pagar, sin que el cliente haga nada.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 con el catálogo de premios de siempre.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al cliente que nunca llega al premio más barato del catálogo y termina sintiendo que sus puntos no sirven para nada.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Mecánicas que hacen volver a la estación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Premios chicos, límites diarios y retos de visita: más frecuencia sin comprometer el programa de puntos.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5166360" cy="1783080"/>
          </a:xfrm>
          <a:prstGeom prst="roundRect">
            <a:avLst>
              <a:gd name="adj" fmla="val 7179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2478024"/>
            <a:ext cx="548640" cy="54864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606954"/>
            <a:ext cx="290779" cy="2907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2441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Memotest Primax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94760" y="24414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pts por día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64208" y="28620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juego de parejas para los más chicos, mientras la familia carga combustible. Límite de un premio diario.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82512" y="2148840"/>
            <a:ext cx="5166360" cy="1783080"/>
          </a:xfrm>
          <a:prstGeom prst="roundRect">
            <a:avLst>
              <a:gd name="adj" fmla="val 7179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729984" y="2478024"/>
            <a:ext cx="548640" cy="54864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914" y="2606954"/>
            <a:ext cx="290779" cy="29077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06640" y="2441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 el logo Primax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537192" y="24414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pts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406640" y="286207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aumentada: apuntar la cámara al marcador en la estación desbloquea un bono.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5166360" cy="1783080"/>
          </a:xfrm>
          <a:prstGeom prst="roundRect">
            <a:avLst>
              <a:gd name="adj" fmla="val 7179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" y="4443984"/>
            <a:ext cx="548640" cy="54864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82" y="4572914"/>
            <a:ext cx="290779" cy="29077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4407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de visita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794760" y="4407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 pts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664208" y="482803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cargas antes del domingo, café antes de las 9 de la mañana, probar Primax Gas.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382512" y="4114800"/>
            <a:ext cx="5166360" cy="1783080"/>
          </a:xfrm>
          <a:prstGeom prst="roundRect">
            <a:avLst>
              <a:gd name="adj" fmla="val 7179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29984" y="4443984"/>
            <a:ext cx="548640" cy="54864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914" y="4572914"/>
            <a:ext cx="290779" cy="29077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06640" y="4407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de nivel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537192" y="44074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→ Platino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406640" y="482803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mejora con el consumo y desbloquea descuentos propios en Gas y lubricantes.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por punto entregado es bajo y está acotado por día — el retorno está en la visita, no en el premio.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ENFOQUE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llevamos de la demo a producción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capas: primero la identidad, después el pago, el engagement encima. Sin big bang y sin frenar la operación actual.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148840"/>
            <a:ext cx="3977640" cy="3721608"/>
          </a:xfrm>
          <a:prstGeom prst="roundRect">
            <a:avLst>
              <a:gd name="adj" fmla="val 3440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95728"/>
            <a:ext cx="402336" cy="402336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69" y="2490277"/>
            <a:ext cx="213238" cy="213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primero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16352"/>
            <a:ext cx="3355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ID único de cliente no hay nada que unificar.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60120" y="3282696"/>
            <a:ext cx="402336" cy="402336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69" y="3377245"/>
            <a:ext cx="213238" cy="213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3319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Orquestar, no migrar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60120" y="3703320"/>
            <a:ext cx="3355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programa sigue en su sistema; la app los coordina.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60120" y="4169664"/>
            <a:ext cx="402336" cy="402336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669" y="4264213"/>
            <a:ext cx="213238" cy="213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reglas, en un solo lugar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60120" y="4590288"/>
            <a:ext cx="3355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central y versionado, no reglas repartidas.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60120" y="5056632"/>
            <a:ext cx="402336" cy="402336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669" y="5151181"/>
            <a:ext cx="213238" cy="2132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81328" y="5093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por valor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960120" y="5477256"/>
            <a:ext cx="3355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sale con algo que el cliente final nota.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846320" y="2148840"/>
            <a:ext cx="6702552" cy="841248"/>
          </a:xfrm>
          <a:prstGeom prst="roundRect">
            <a:avLst>
              <a:gd name="adj" fmla="val 15217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120640" y="2386584"/>
            <a:ext cx="365760" cy="36576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120640" y="24140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623560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· Descubrimiento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41832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623560" y="257860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sistemas y reglas reales, definición del ID único y arquitectura objetivo.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46320" y="3108960"/>
            <a:ext cx="6702552" cy="841248"/>
          </a:xfrm>
          <a:prstGeom prst="roundRect">
            <a:avLst>
              <a:gd name="adj" fmla="val 15217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120640" y="3346704"/>
            <a:ext cx="365760" cy="36576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120640" y="33741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623560" y="3227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Identidad y billetera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41832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4 meses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623560" y="353872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único, vinculación de programas, saldo consolidado e historial. Piloto acotado.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846320" y="4069080"/>
            <a:ext cx="6702552" cy="841248"/>
          </a:xfrm>
          <a:prstGeom prst="roundRect">
            <a:avLst>
              <a:gd name="adj" fmla="val 15217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5120640" y="4306824"/>
            <a:ext cx="365760" cy="36576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120640" y="43342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562356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Pago y motor de beneficios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941832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4 meses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5623560" y="449884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único integrado al POS. Convenio, sellos y BonusPaga resueltos en una sola transacción.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846320" y="5029200"/>
            <a:ext cx="6702552" cy="841248"/>
          </a:xfrm>
          <a:prstGeom prst="roundRect">
            <a:avLst>
              <a:gd name="adj" fmla="val 15217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5120640" y="5266944"/>
            <a:ext cx="365760" cy="365760"/>
          </a:xfrm>
          <a:prstGeom prst="ellipse">
            <a:avLst/>
          </a:prstGeom>
          <a:solidFill>
            <a:srgbClr val="F4610C"/>
          </a:solidFill>
          <a:ln w="12700">
            <a:solidFill>
              <a:srgbClr val="F4610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120640" y="52943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5623560" y="5148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Engagement y expansión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9418320" y="5148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5623560" y="545896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Retos, gamificación y personalización. Gas y lubricantes entran al mismo flujo.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 estimados, para dimensionar. Bonus es un programa de consorcio con Cencosud y Delosi: se integra, no se absorbe — el enfoque lo respeta desde el primer día.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de orquestación sobre lo que ya existe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no reemplaza a Bonus, a Convenios ni al POS de la estación: los coordina detrás de una sola experiencia.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515600" y="457200"/>
            <a:ext cx="13258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pic>
        <p:nvPicPr>
          <p:cNvPr id="6" name="Image 0" descr="C:/Users/Axel/Documents/Axel/Repos Claude/cx-demo-app/public/logo-wordm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84" y="576072"/>
            <a:ext cx="1124712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6903720" cy="457200"/>
          </a:xfrm>
          <a:prstGeom prst="roundRect">
            <a:avLst>
              <a:gd name="adj" fmla="val 28000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37744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Primax ID · una sola app para el cliente final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980944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3209544"/>
            <a:ext cx="6903720" cy="457200"/>
          </a:xfrm>
          <a:prstGeom prst="roundRect">
            <a:avLst>
              <a:gd name="adj" fmla="val 28000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209544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única (BFF) · contratos versionados, una sola integración para el front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813048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4041648"/>
            <a:ext cx="1664208" cy="658368"/>
          </a:xfrm>
          <a:prstGeom prst="roundRect">
            <a:avLst>
              <a:gd name="adj" fmla="val 19444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404164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386584" y="4041648"/>
            <a:ext cx="1664208" cy="658368"/>
          </a:xfrm>
          <a:prstGeom prst="roundRect">
            <a:avLst>
              <a:gd name="adj" fmla="val 19444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386584" y="404164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beneficios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33088" y="4041648"/>
            <a:ext cx="1664208" cy="658368"/>
          </a:xfrm>
          <a:prstGeom prst="roundRect">
            <a:avLst>
              <a:gd name="adj" fmla="val 19444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133088" y="404164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Billetera y saldos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879592" y="4041648"/>
            <a:ext cx="1664208" cy="658368"/>
          </a:xfrm>
          <a:prstGeom prst="roundRect">
            <a:avLst>
              <a:gd name="adj" fmla="val 19444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879592" y="404164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4846320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A LOS SISTEMAS ACTUALES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0080" y="507492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0E1746"/>
          </a:solidFill>
          <a:ln w="10160">
            <a:solidFill>
              <a:srgbClr val="FBA919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801368" y="507492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0E1746"/>
          </a:solidFill>
          <a:ln w="10160">
            <a:solidFill>
              <a:srgbClr val="FBA919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01368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LiSTO!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962656" y="507492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0E1746"/>
          </a:solidFill>
          <a:ln w="10160">
            <a:solidFill>
              <a:srgbClr val="FBA919">
                <a:alpha val="4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62656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23944" y="507492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0E1746"/>
          </a:solidFill>
          <a:ln w="10160">
            <a:solidFill>
              <a:srgbClr val="FBA919">
                <a:alpha val="4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23944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estación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285232" y="507492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0E1746"/>
          </a:solidFill>
          <a:ln w="10160">
            <a:solidFill>
              <a:srgbClr val="FBA919">
                <a:alpha val="4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85232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Primax Gas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46520" y="507492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0E1746"/>
          </a:solidFill>
          <a:ln w="10160">
            <a:solidFill>
              <a:srgbClr val="FBA919">
                <a:alpha val="4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5074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B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772400" y="2148840"/>
            <a:ext cx="3776472" cy="3401568"/>
          </a:xfrm>
          <a:prstGeom prst="roundRect">
            <a:avLst>
              <a:gd name="adj" fmla="val 3763"/>
            </a:avLst>
          </a:prstGeom>
          <a:solidFill>
            <a:srgbClr val="18215C"/>
          </a:solidFill>
          <a:ln w="762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074152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BA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TÉCNICOS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74152" y="2788920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 como servicio, con simulación: cambiar un beneficio no es un release de la app.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y conciliación en cada transacción — una compra impacta tres programas.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elegante: si un conector se cae, la app sigue mostrando el resto.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y datos personales por diseño (Ley 29733).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40080" y="61539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demo ya tiene esta forma: el motor de beneficios es una función aislada y los conectores de hoy son datos mock.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Primax ID · casos de uso, enfoque y arquitectura</dc:title>
  <dc:subject>PptxGenJS Presentation</dc:subject>
  <dc:creator>Primax ID</dc:creator>
  <cp:lastModifiedBy>Primax ID</cp:lastModifiedBy>
  <cp:revision>1</cp:revision>
  <dcterms:created xsi:type="dcterms:W3CDTF">2026-08-10T14:19:22Z</dcterms:created>
  <dcterms:modified xsi:type="dcterms:W3CDTF">2026-08-10T14:19:22Z</dcterms:modified>
</cp:coreProperties>
</file>