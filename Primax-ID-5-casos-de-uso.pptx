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Abrir la demo por acá. Mostrar la pantalla de onboarding: lista los seis programas con el canal donde viven hoy, y el botón "Unificar mis programas" los vincula en vivo.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número grande es la suma real: 1.240 puntos a S/0.01 más el cupón de sellos de S/5.50.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Momento clave de la demo. Mover el slider de puntos o apagar un beneficio recalcula todo en vivo, incluidos los sellos, que se duplican solo si se paga con Bonus.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canje sin mínimo se ve en Beneficios. Convierte el saldo en "saldo a favor" y aparece como una fila más en la pantalla de pago.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Cerrar la demo acá. El memotest se puede jugar en vivo en 30 segundos; el reto AR necesita el marcador impreso.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jp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jp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jp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jp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jp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FBA9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DE USO 01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9326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8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sola identidad para todos sus programas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709928"/>
            <a:ext cx="9692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9B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el cliente hace malabares entre dos apps, tres portales y una tarjeta.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10515600" y="457200"/>
            <a:ext cx="13258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</p:spPr>
      </p:sp>
      <p:pic>
        <p:nvPicPr>
          <p:cNvPr id="6" name="Image 0" descr="C:/Users/Axel/Documents/Axel/Repos Claude/cx-demo-app/public/logo-wordmark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6184" y="576072"/>
            <a:ext cx="1124712" cy="42062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40080" y="2148840"/>
            <a:ext cx="5486400" cy="3794760"/>
          </a:xfrm>
          <a:prstGeom prst="roundRect">
            <a:avLst>
              <a:gd name="adj" fmla="val 3373"/>
            </a:avLst>
          </a:prstGeom>
          <a:solidFill>
            <a:srgbClr val="241A4E"/>
          </a:solidFill>
          <a:ln w="7620">
            <a:solidFill>
              <a:srgbClr val="FFFFFF">
                <a:alpha val="12000"/>
              </a:srgbClr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3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960120" y="2450592"/>
            <a:ext cx="512064" cy="512064"/>
          </a:xfrm>
          <a:prstGeom prst="ellipse">
            <a:avLst/>
          </a:prstGeom>
          <a:solidFill>
            <a:srgbClr val="3A2550"/>
          </a:solidFill>
          <a:ln w="12700">
            <a:solidFill>
              <a:srgbClr val="3A2550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455" y="2570927"/>
            <a:ext cx="271394" cy="27139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600200" y="24871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8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1600200" y="274320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9B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programa en su propio canal</a:t>
            </a:r>
            <a:endParaRPr lang="en-US" sz="1150" dirty="0"/>
          </a:p>
        </p:txBody>
      </p:sp>
      <p:sp>
        <p:nvSpPr>
          <p:cNvPr id="12" name="Text 8"/>
          <p:cNvSpPr/>
          <p:nvPr/>
        </p:nvSpPr>
        <p:spPr>
          <a:xfrm>
            <a:off x="987552" y="3310128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3657600" y="331012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7F8A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Bonus Perú</a:t>
            </a:r>
            <a:endParaRPr lang="en-US" sz="1150" dirty="0"/>
          </a:p>
        </p:txBody>
      </p:sp>
      <p:sp>
        <p:nvSpPr>
          <p:cNvPr id="14" name="Text 10"/>
          <p:cNvSpPr/>
          <p:nvPr/>
        </p:nvSpPr>
        <p:spPr>
          <a:xfrm>
            <a:off x="987552" y="3694176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Sellos LiSTO!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3657600" y="369417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7F8A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web propio</a:t>
            </a:r>
            <a:endParaRPr lang="en-US" sz="1150" dirty="0"/>
          </a:p>
        </p:txBody>
      </p:sp>
      <p:sp>
        <p:nvSpPr>
          <p:cNvPr id="16" name="Text 12"/>
          <p:cNvSpPr/>
          <p:nvPr/>
        </p:nvSpPr>
        <p:spPr>
          <a:xfrm>
            <a:off x="987552" y="4078224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Primax GO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3657600" y="407822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7F8A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propia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987552" y="446227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Convenio Primax Card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3657600" y="446227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7F8A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web propio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987552" y="484632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Primax Gas</a:t>
            </a:r>
            <a:endParaRPr lang="en-US" sz="1250" dirty="0"/>
          </a:p>
        </p:txBody>
      </p:sp>
      <p:sp>
        <p:nvSpPr>
          <p:cNvPr id="21" name="Text 17"/>
          <p:cNvSpPr/>
          <p:nvPr/>
        </p:nvSpPr>
        <p:spPr>
          <a:xfrm>
            <a:off x="3657600" y="484632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7F8A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center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987552" y="5230368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Lubricantes Shell</a:t>
            </a:r>
            <a:endParaRPr lang="en-US" sz="1250" dirty="0"/>
          </a:p>
        </p:txBody>
      </p:sp>
      <p:sp>
        <p:nvSpPr>
          <p:cNvPr id="23" name="Text 19"/>
          <p:cNvSpPr/>
          <p:nvPr/>
        </p:nvSpPr>
        <p:spPr>
          <a:xfrm>
            <a:off x="3657600" y="52303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7F8A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mostrador de la estación</a:t>
            </a:r>
            <a:endParaRPr lang="en-US" sz="1150" dirty="0"/>
          </a:p>
        </p:txBody>
      </p:sp>
      <p:sp>
        <p:nvSpPr>
          <p:cNvPr id="24" name="Shape 20"/>
          <p:cNvSpPr/>
          <p:nvPr/>
        </p:nvSpPr>
        <p:spPr>
          <a:xfrm>
            <a:off x="6428232" y="2148840"/>
            <a:ext cx="5120640" cy="3794760"/>
          </a:xfrm>
          <a:prstGeom prst="roundRect">
            <a:avLst>
              <a:gd name="adj" fmla="val 3373"/>
            </a:avLst>
          </a:prstGeom>
          <a:solidFill>
            <a:srgbClr val="18215C"/>
          </a:solidFill>
          <a:ln w="7620">
            <a:solidFill>
              <a:srgbClr val="FFFFFF">
                <a:alpha val="12000"/>
              </a:srgbClr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30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6748272" y="2450592"/>
            <a:ext cx="512064" cy="512064"/>
          </a:xfrm>
          <a:prstGeom prst="ellipse">
            <a:avLst/>
          </a:prstGeom>
          <a:solidFill>
            <a:srgbClr val="F4610C"/>
          </a:solidFill>
          <a:ln w="12700">
            <a:solidFill>
              <a:srgbClr val="F4610C"/>
            </a:solidFill>
            <a:prstDash val="solid"/>
          </a:ln>
        </p:spPr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8607" y="2570927"/>
            <a:ext cx="271394" cy="271394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7388352" y="24871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BA9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PRIMAX ID</a:t>
            </a:r>
            <a:endParaRPr lang="en-US" sz="1200" dirty="0"/>
          </a:p>
        </p:txBody>
      </p:sp>
      <p:sp>
        <p:nvSpPr>
          <p:cNvPr id="28" name="Text 23"/>
          <p:cNvSpPr/>
          <p:nvPr/>
        </p:nvSpPr>
        <p:spPr>
          <a:xfrm>
            <a:off x="7388352" y="274320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9B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registro</a:t>
            </a:r>
            <a:endParaRPr lang="en-US" sz="1150" dirty="0"/>
          </a:p>
        </p:txBody>
      </p:sp>
      <p:sp>
        <p:nvSpPr>
          <p:cNvPr id="29" name="Text 24"/>
          <p:cNvSpPr/>
          <p:nvPr/>
        </p:nvSpPr>
        <p:spPr>
          <a:xfrm>
            <a:off x="6748272" y="324612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6600" dirty="0"/>
          </a:p>
        </p:txBody>
      </p:sp>
      <p:sp>
        <p:nvSpPr>
          <p:cNvPr id="30" name="Text 25"/>
          <p:cNvSpPr/>
          <p:nvPr/>
        </p:nvSpPr>
        <p:spPr>
          <a:xfrm>
            <a:off x="8001000" y="3401568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A9B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programas vinculados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A9B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una sola cuenta</a:t>
            </a:r>
            <a:endParaRPr lang="en-US" sz="1300" dirty="0"/>
          </a:p>
        </p:txBody>
      </p:sp>
      <p:sp>
        <p:nvSpPr>
          <p:cNvPr id="31" name="Text 26"/>
          <p:cNvSpPr/>
          <p:nvPr/>
        </p:nvSpPr>
        <p:spPr>
          <a:xfrm>
            <a:off x="6748272" y="4343400"/>
            <a:ext cx="4480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Ingreso con huella o Face ID, una sola vez.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onboarding descubre lo que el cliente ya tiene y lo vincula.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pierde nada de lo acumulado.</a:t>
            </a:r>
            <a:endParaRPr lang="en-US" sz="1250" dirty="0"/>
          </a:p>
        </p:txBody>
      </p:sp>
      <p:sp>
        <p:nvSpPr>
          <p:cNvPr id="32" name="Text 27"/>
          <p:cNvSpPr/>
          <p:nvPr/>
        </p:nvSpPr>
        <p:spPr>
          <a:xfrm>
            <a:off x="640080" y="6153912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F8A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cliente ve su propio problema dibujado en pantalla — y resuelto en el mismo paso.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FBA9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DE USO 02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9326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8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lo que tiene, en una sola cifra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709928"/>
            <a:ext cx="9692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9B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primera vez el cliente sabe cuánto vale lo que acumuló, sumando todos los programas.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10515600" y="457200"/>
            <a:ext cx="13258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</p:spPr>
      </p:sp>
      <p:pic>
        <p:nvPicPr>
          <p:cNvPr id="6" name="Image 0" descr="C:/Users/Axel/Documents/Axel/Repos Claude/cx-demo-app/public/logo-wordmark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6184" y="576072"/>
            <a:ext cx="1124712" cy="42062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40080" y="2148840"/>
            <a:ext cx="4846320" cy="3794760"/>
          </a:xfrm>
          <a:prstGeom prst="roundRect">
            <a:avLst>
              <a:gd name="adj" fmla="val 3373"/>
            </a:avLst>
          </a:prstGeom>
          <a:solidFill>
            <a:srgbClr val="18215C"/>
          </a:solidFill>
          <a:ln w="7620">
            <a:solidFill>
              <a:srgbClr val="FFFFFF">
                <a:alpha val="12000"/>
              </a:srgbClr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3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1005840" y="2468880"/>
            <a:ext cx="566928" cy="566928"/>
          </a:xfrm>
          <a:prstGeom prst="ellipse">
            <a:avLst/>
          </a:prstGeom>
          <a:solidFill>
            <a:srgbClr val="F4610C"/>
          </a:solidFill>
          <a:ln w="12700">
            <a:solidFill>
              <a:srgbClr val="F4610C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9068" y="2602108"/>
            <a:ext cx="300472" cy="30047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691640" y="25786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BA9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BILLETERA UNIFICADA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1005840" y="3401568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S/ 17.90</a:t>
            </a:r>
            <a:endParaRPr lang="en-US" sz="6200" dirty="0"/>
          </a:p>
        </p:txBody>
      </p:sp>
      <p:sp>
        <p:nvSpPr>
          <p:cNvPr id="12" name="Text 8"/>
          <p:cNvSpPr/>
          <p:nvPr/>
        </p:nvSpPr>
        <p:spPr>
          <a:xfrm>
            <a:off x="1005840" y="448056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A9B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disponible ahora, entre tres programas distintos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1005840" y="523036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D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S/ 168.40 ahorrados en lo que va del año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5852160" y="2148840"/>
            <a:ext cx="5696712" cy="1179576"/>
          </a:xfrm>
          <a:prstGeom prst="roundRect">
            <a:avLst>
              <a:gd name="adj" fmla="val 10853"/>
            </a:avLst>
          </a:prstGeom>
          <a:solidFill>
            <a:srgbClr val="18215C"/>
          </a:solidFill>
          <a:ln w="7620">
            <a:solidFill>
              <a:srgbClr val="FFFFFF">
                <a:alpha val="12000"/>
              </a:srgbClr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30000"/>
              </a:srgbClr>
            </a:outerShdw>
          </a:effectLst>
        </p:spPr>
      </p:sp>
      <p:sp>
        <p:nvSpPr>
          <p:cNvPr id="15" name="Text 11"/>
          <p:cNvSpPr/>
          <p:nvPr/>
        </p:nvSpPr>
        <p:spPr>
          <a:xfrm>
            <a:off x="6199632" y="233172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1,240 pts Bonus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9235440" y="230428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BA9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S/ 12.40</a:t>
            </a:r>
            <a:endParaRPr lang="en-US" sz="2000" dirty="0"/>
          </a:p>
        </p:txBody>
      </p:sp>
      <p:sp>
        <p:nvSpPr>
          <p:cNvPr id="17" name="Text 13"/>
          <p:cNvSpPr/>
          <p:nvPr/>
        </p:nvSpPr>
        <p:spPr>
          <a:xfrm>
            <a:off x="6199632" y="2752344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8A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Canjeables o para pagar con BonusPaga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5852160" y="3456432"/>
            <a:ext cx="5696712" cy="1179576"/>
          </a:xfrm>
          <a:prstGeom prst="roundRect">
            <a:avLst>
              <a:gd name="adj" fmla="val 10853"/>
            </a:avLst>
          </a:prstGeom>
          <a:solidFill>
            <a:srgbClr val="18215C"/>
          </a:solidFill>
          <a:ln w="7620">
            <a:solidFill>
              <a:srgbClr val="FFFFFF">
                <a:alpha val="12000"/>
              </a:srgbClr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30000"/>
              </a:srgbClr>
            </a:outerShdw>
          </a:effectLst>
        </p:spPr>
      </p:sp>
      <p:sp>
        <p:nvSpPr>
          <p:cNvPr id="19" name="Text 15"/>
          <p:cNvSpPr/>
          <p:nvPr/>
        </p:nvSpPr>
        <p:spPr>
          <a:xfrm>
            <a:off x="6199632" y="363931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de 5 sellos LiSTO!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9235440" y="36118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BA9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S/ 5.50</a:t>
            </a:r>
            <a:endParaRPr lang="en-US" sz="2000" dirty="0"/>
          </a:p>
        </p:txBody>
      </p:sp>
      <p:sp>
        <p:nvSpPr>
          <p:cNvPr id="21" name="Text 17"/>
          <p:cNvSpPr/>
          <p:nvPr/>
        </p:nvSpPr>
        <p:spPr>
          <a:xfrm>
            <a:off x="6199632" y="4059936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8A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Cupón desbloqueado, listo para usar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5852160" y="4764024"/>
            <a:ext cx="5696712" cy="1179576"/>
          </a:xfrm>
          <a:prstGeom prst="roundRect">
            <a:avLst>
              <a:gd name="adj" fmla="val 10853"/>
            </a:avLst>
          </a:prstGeom>
          <a:solidFill>
            <a:srgbClr val="18215C"/>
          </a:solidFill>
          <a:ln w="7620">
            <a:solidFill>
              <a:srgbClr val="FFFFFF">
                <a:alpha val="12000"/>
              </a:srgbClr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30000"/>
              </a:srgbClr>
            </a:outerShdw>
          </a:effectLst>
        </p:spPr>
      </p:sp>
      <p:sp>
        <p:nvSpPr>
          <p:cNvPr id="23" name="Text 19"/>
          <p:cNvSpPr/>
          <p:nvPr/>
        </p:nvSpPr>
        <p:spPr>
          <a:xfrm>
            <a:off x="6199632" y="4946904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Convenio activo</a:t>
            </a:r>
            <a:endParaRPr lang="en-US" sz="1500" dirty="0"/>
          </a:p>
        </p:txBody>
      </p:sp>
      <p:sp>
        <p:nvSpPr>
          <p:cNvPr id="24" name="Text 20"/>
          <p:cNvSpPr/>
          <p:nvPr/>
        </p:nvSpPr>
        <p:spPr>
          <a:xfrm>
            <a:off x="9235440" y="491947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BA9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S/ 1.00 / gal</a:t>
            </a:r>
            <a:endParaRPr lang="en-US" sz="2000" dirty="0"/>
          </a:p>
        </p:txBody>
      </p:sp>
      <p:sp>
        <p:nvSpPr>
          <p:cNvPr id="25" name="Text 21"/>
          <p:cNvSpPr/>
          <p:nvPr/>
        </p:nvSpPr>
        <p:spPr>
          <a:xfrm>
            <a:off x="6199632" y="536752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8A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Descuento automático en cada carga</a:t>
            </a:r>
            <a:endParaRPr lang="en-US" sz="1200" dirty="0"/>
          </a:p>
        </p:txBody>
      </p:sp>
      <p:sp>
        <p:nvSpPr>
          <p:cNvPr id="26" name="Text 22"/>
          <p:cNvSpPr/>
          <p:nvPr/>
        </p:nvSpPr>
        <p:spPr>
          <a:xfrm>
            <a:off x="640080" y="6153912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F8A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Hoy, para llegar a este mismo número, el cliente tendría que entrar a tres sitios con tres claves distintas.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FBA9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DE USO 03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9326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8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código, y la mejor combinación calculada sola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709928"/>
            <a:ext cx="9692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9B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mismo QR sirve en playa, tienda LiSTO! y Primax Gas. La app arma el mejor precio antes de pagar.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10515600" y="457200"/>
            <a:ext cx="13258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</p:spPr>
      </p:sp>
      <p:pic>
        <p:nvPicPr>
          <p:cNvPr id="6" name="Image 0" descr="C:/Users/Axel/Documents/Axel/Repos Claude/cx-demo-app/public/logo-wordmark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6184" y="576072"/>
            <a:ext cx="1124712" cy="42062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40080" y="2148840"/>
            <a:ext cx="5989320" cy="3794760"/>
          </a:xfrm>
          <a:prstGeom prst="roundRect">
            <a:avLst>
              <a:gd name="adj" fmla="val 3373"/>
            </a:avLst>
          </a:prstGeom>
          <a:solidFill>
            <a:srgbClr val="18215C"/>
          </a:solidFill>
          <a:ln w="7620">
            <a:solidFill>
              <a:srgbClr val="FFFFFF">
                <a:alpha val="12000"/>
              </a:srgbClr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3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987552" y="2450592"/>
            <a:ext cx="512064" cy="512064"/>
          </a:xfrm>
          <a:prstGeom prst="ellipse">
            <a:avLst/>
          </a:prstGeom>
          <a:solidFill>
            <a:srgbClr val="F4610C"/>
          </a:solidFill>
          <a:ln w="12700">
            <a:solidFill>
              <a:srgbClr val="F4610C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887" y="2570927"/>
            <a:ext cx="271394" cy="27139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627632" y="2542032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FBA9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DE G-PREMIUM + CAFÉ Y SÁNDWICH EN LiSTO!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1005840" y="312724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B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Subtotal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4480560" y="31272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S/ 138.50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1005840" y="367588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B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Convenio Primax Card · S/ 1.00 × 5 gal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4480560" y="367588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50" b="1" dirty="0">
                <a:solidFill>
                  <a:srgbClr val="3BD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 S/ 5.00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1005840" y="422452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B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Cupón Sellos LiSTO!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4480560" y="422452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50" b="1" dirty="0">
                <a:solidFill>
                  <a:srgbClr val="3BD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 S/ 5.50</a:t>
            </a:r>
            <a:endParaRPr lang="en-US" sz="1450" dirty="0"/>
          </a:p>
        </p:txBody>
      </p:sp>
      <p:sp>
        <p:nvSpPr>
          <p:cNvPr id="17" name="Text 13"/>
          <p:cNvSpPr/>
          <p:nvPr/>
        </p:nvSpPr>
        <p:spPr>
          <a:xfrm>
            <a:off x="1005840" y="477316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B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BonusPaga · 1,240 puntos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4480560" y="477316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50" b="1" dirty="0">
                <a:solidFill>
                  <a:srgbClr val="3BD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 S/ 12.40</a:t>
            </a:r>
            <a:endParaRPr lang="en-US" sz="1450" dirty="0"/>
          </a:p>
        </p:txBody>
      </p:sp>
      <p:sp>
        <p:nvSpPr>
          <p:cNvPr id="19" name="Text 15"/>
          <p:cNvSpPr/>
          <p:nvPr/>
        </p:nvSpPr>
        <p:spPr>
          <a:xfrm>
            <a:off x="1005840" y="532180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 pagar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4480560" y="5266944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S/ 115.60</a:t>
            </a:r>
            <a:endParaRPr lang="en-US" sz="2100" dirty="0"/>
          </a:p>
        </p:txBody>
      </p:sp>
      <p:sp>
        <p:nvSpPr>
          <p:cNvPr id="21" name="Shape 17"/>
          <p:cNvSpPr/>
          <p:nvPr/>
        </p:nvSpPr>
        <p:spPr>
          <a:xfrm>
            <a:off x="6931152" y="2148840"/>
            <a:ext cx="4617720" cy="2148840"/>
          </a:xfrm>
          <a:prstGeom prst="roundRect">
            <a:avLst>
              <a:gd name="adj" fmla="val 5957"/>
            </a:avLst>
          </a:prstGeom>
          <a:solidFill>
            <a:srgbClr val="113D2E"/>
          </a:solidFill>
          <a:ln w="7620">
            <a:solidFill>
              <a:srgbClr val="FFFFFF">
                <a:alpha val="12000"/>
              </a:srgbClr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30000"/>
              </a:srgbClr>
            </a:outerShdw>
          </a:effectLst>
        </p:spPr>
      </p:sp>
      <p:sp>
        <p:nvSpPr>
          <p:cNvPr id="22" name="Text 18"/>
          <p:cNvSpPr/>
          <p:nvPr/>
        </p:nvSpPr>
        <p:spPr>
          <a:xfrm>
            <a:off x="7269480" y="239572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D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AHORRO EN UNA SOLA COMPRA</a:t>
            </a:r>
            <a:endParaRPr lang="en-US" sz="1100" dirty="0"/>
          </a:p>
        </p:txBody>
      </p:sp>
      <p:sp>
        <p:nvSpPr>
          <p:cNvPr id="23" name="Text 19"/>
          <p:cNvSpPr/>
          <p:nvPr/>
        </p:nvSpPr>
        <p:spPr>
          <a:xfrm>
            <a:off x="7269480" y="2743200"/>
            <a:ext cx="3931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S/ 22.90</a:t>
            </a:r>
            <a:endParaRPr lang="en-US" sz="5400" dirty="0"/>
          </a:p>
        </p:txBody>
      </p:sp>
      <p:sp>
        <p:nvSpPr>
          <p:cNvPr id="24" name="Text 20"/>
          <p:cNvSpPr/>
          <p:nvPr/>
        </p:nvSpPr>
        <p:spPr>
          <a:xfrm>
            <a:off x="7269480" y="3675888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8E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17 % menos sobre S/ 138.50</a:t>
            </a:r>
            <a:endParaRPr lang="en-US" sz="1350" dirty="0"/>
          </a:p>
        </p:txBody>
      </p:sp>
      <p:sp>
        <p:nvSpPr>
          <p:cNvPr id="25" name="Shape 21"/>
          <p:cNvSpPr/>
          <p:nvPr/>
        </p:nvSpPr>
        <p:spPr>
          <a:xfrm>
            <a:off x="6931152" y="4498848"/>
            <a:ext cx="4617720" cy="1444752"/>
          </a:xfrm>
          <a:prstGeom prst="roundRect">
            <a:avLst>
              <a:gd name="adj" fmla="val 8861"/>
            </a:avLst>
          </a:prstGeom>
          <a:solidFill>
            <a:srgbClr val="18215C"/>
          </a:solidFill>
          <a:ln w="7620">
            <a:solidFill>
              <a:srgbClr val="FFFFFF">
                <a:alpha val="12000"/>
              </a:srgbClr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30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7269480" y="4754880"/>
            <a:ext cx="457200" cy="457200"/>
          </a:xfrm>
          <a:prstGeom prst="ellipse">
            <a:avLst/>
          </a:prstGeom>
          <a:solidFill>
            <a:srgbClr val="F4610C"/>
          </a:solidFill>
          <a:ln w="12700">
            <a:solidFill>
              <a:srgbClr val="F4610C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6922" y="4862322"/>
            <a:ext cx="242316" cy="242316"/>
          </a:xfrm>
          <a:prstGeom prst="rect">
            <a:avLst/>
          </a:prstGeom>
        </p:spPr>
      </p:pic>
      <p:sp>
        <p:nvSpPr>
          <p:cNvPr id="28" name="Text 23"/>
          <p:cNvSpPr/>
          <p:nvPr/>
        </p:nvSpPr>
        <p:spPr>
          <a:xfrm>
            <a:off x="7845552" y="482803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con la misma compra suma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7269480" y="534924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BA9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 pts Bonus     +2 sellos LiSTO!</a:t>
            </a:r>
            <a:endParaRPr lang="en-US" sz="1700" dirty="0"/>
          </a:p>
        </p:txBody>
      </p:sp>
      <p:sp>
        <p:nvSpPr>
          <p:cNvPr id="30" name="Text 25"/>
          <p:cNvSpPr/>
          <p:nvPr/>
        </p:nvSpPr>
        <p:spPr>
          <a:xfrm>
            <a:off x="640080" y="6153912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F8A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transacción, tres programas actualizados al instante. Hoy son tres credenciales y tres canales separados.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FBA9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DE USO 04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9326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8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sola historia, y puntos que siempre sirven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709928"/>
            <a:ext cx="9692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9B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lo que pasó con Primax en una línea de tiempo, y ningún saldo que quede inservible.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10515600" y="457200"/>
            <a:ext cx="13258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</p:spPr>
      </p:sp>
      <p:pic>
        <p:nvPicPr>
          <p:cNvPr id="6" name="Image 0" descr="C:/Users/Axel/Documents/Axel/Repos Claude/cx-demo-app/public/logo-wordmark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6184" y="576072"/>
            <a:ext cx="1124712" cy="42062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40080" y="2148840"/>
            <a:ext cx="5440680" cy="3794760"/>
          </a:xfrm>
          <a:prstGeom prst="roundRect">
            <a:avLst>
              <a:gd name="adj" fmla="val 3373"/>
            </a:avLst>
          </a:prstGeom>
          <a:solidFill>
            <a:srgbClr val="18215C"/>
          </a:solidFill>
          <a:ln w="7620">
            <a:solidFill>
              <a:srgbClr val="FFFFFF">
                <a:alpha val="12000"/>
              </a:srgbClr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3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1005840" y="2468880"/>
            <a:ext cx="566928" cy="566928"/>
          </a:xfrm>
          <a:prstGeom prst="ellipse">
            <a:avLst/>
          </a:prstGeom>
          <a:solidFill>
            <a:srgbClr val="F4610C"/>
          </a:solidFill>
          <a:ln w="12700">
            <a:solidFill>
              <a:srgbClr val="F4610C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9068" y="2602108"/>
            <a:ext cx="300472" cy="30047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691640" y="25786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BA9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ACTIVIDAD UNIFICADA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1005840" y="3154680"/>
            <a:ext cx="1097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5800" dirty="0"/>
          </a:p>
        </p:txBody>
      </p:sp>
      <p:sp>
        <p:nvSpPr>
          <p:cNvPr id="12" name="Text 8"/>
          <p:cNvSpPr/>
          <p:nvPr/>
        </p:nvSpPr>
        <p:spPr>
          <a:xfrm>
            <a:off x="2057400" y="331012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A9B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programas en una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A9B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 vista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1005840" y="4224528"/>
            <a:ext cx="4709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compra muestra qué programas se movieron y cuánto se ahorró.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filtra por programa sin salir de la pantalla.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Reemplaza tres consultas separadas a tres sistemas.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382512" y="2148840"/>
            <a:ext cx="5166360" cy="3794760"/>
          </a:xfrm>
          <a:prstGeom prst="roundRect">
            <a:avLst>
              <a:gd name="adj" fmla="val 3373"/>
            </a:avLst>
          </a:prstGeom>
          <a:solidFill>
            <a:srgbClr val="18215C"/>
          </a:solidFill>
          <a:ln w="7620">
            <a:solidFill>
              <a:srgbClr val="FFFFFF">
                <a:alpha val="12000"/>
              </a:srgbClr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3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729984" y="2468880"/>
            <a:ext cx="566928" cy="566928"/>
          </a:xfrm>
          <a:prstGeom prst="ellipse">
            <a:avLst/>
          </a:prstGeom>
          <a:solidFill>
            <a:srgbClr val="F4610C"/>
          </a:solidFill>
          <a:ln w="12700">
            <a:solidFill>
              <a:srgbClr val="F4610C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3212" y="2602108"/>
            <a:ext cx="300472" cy="300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7415784" y="25786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BA9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CANJE SIN MÍNIMO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6729984" y="315468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Desde 1 punto</a:t>
            </a:r>
            <a:endParaRPr lang="en-US" sz="4000" dirty="0"/>
          </a:p>
        </p:txBody>
      </p:sp>
      <p:sp>
        <p:nvSpPr>
          <p:cNvPr id="19" name="Text 14"/>
          <p:cNvSpPr/>
          <p:nvPr/>
        </p:nvSpPr>
        <p:spPr>
          <a:xfrm>
            <a:off x="6729984" y="3913632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A9B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Cualquier saldo se convierte en descuento para la próxima compra.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729984" y="4663440"/>
            <a:ext cx="4480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aplica solo al pagar, sin que el cliente haga nada.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Convive con el catálogo de premios de siempre.</a:t>
            </a:r>
            <a:endParaRPr lang="en-US" sz="1250" dirty="0"/>
          </a:p>
        </p:txBody>
      </p:sp>
      <p:sp>
        <p:nvSpPr>
          <p:cNvPr id="21" name="Text 16"/>
          <p:cNvSpPr/>
          <p:nvPr/>
        </p:nvSpPr>
        <p:spPr>
          <a:xfrm>
            <a:off x="640080" y="6153912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F8A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Resuelve al cliente que nunca llega al premio más barato del catálogo y termina sintiendo que sus puntos no sirven para nada.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FBA9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DE USO 05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9326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8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Mecánicas que hacen volver a la estación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709928"/>
            <a:ext cx="9692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9B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Premios chicos, límites diarios y retos de visita: más frecuencia sin comprometer el programa de puntos.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10515600" y="457200"/>
            <a:ext cx="13258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</p:spPr>
      </p:sp>
      <p:pic>
        <p:nvPicPr>
          <p:cNvPr id="6" name="Image 0" descr="C:/Users/Axel/Documents/Axel/Repos Claude/cx-demo-app/public/logo-wordmark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6184" y="576072"/>
            <a:ext cx="1124712" cy="42062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40080" y="2148840"/>
            <a:ext cx="5166360" cy="1783080"/>
          </a:xfrm>
          <a:prstGeom prst="roundRect">
            <a:avLst>
              <a:gd name="adj" fmla="val 7179"/>
            </a:avLst>
          </a:prstGeom>
          <a:solidFill>
            <a:srgbClr val="18215C"/>
          </a:solidFill>
          <a:ln w="7620">
            <a:solidFill>
              <a:srgbClr val="FFFFFF">
                <a:alpha val="12000"/>
              </a:srgbClr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3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987552" y="2478024"/>
            <a:ext cx="548640" cy="548640"/>
          </a:xfrm>
          <a:prstGeom prst="ellipse">
            <a:avLst/>
          </a:prstGeom>
          <a:solidFill>
            <a:srgbClr val="F4610C"/>
          </a:solidFill>
          <a:ln w="12700">
            <a:solidFill>
              <a:srgbClr val="F4610C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6482" y="2606954"/>
            <a:ext cx="290779" cy="290779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664208" y="2441448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Memotest Primax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3794760" y="2441448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BA9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 pts por día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1664208" y="2862072"/>
            <a:ext cx="3794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A9B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juego de parejas para los más chicos, mientras la familia carga combustible. Límite de un premio diario.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6382512" y="2148840"/>
            <a:ext cx="5166360" cy="1783080"/>
          </a:xfrm>
          <a:prstGeom prst="roundRect">
            <a:avLst>
              <a:gd name="adj" fmla="val 7179"/>
            </a:avLst>
          </a:prstGeom>
          <a:solidFill>
            <a:srgbClr val="18215C"/>
          </a:solidFill>
          <a:ln w="7620">
            <a:solidFill>
              <a:srgbClr val="FFFFFF">
                <a:alpha val="12000"/>
              </a:srgbClr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30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729984" y="2478024"/>
            <a:ext cx="548640" cy="548640"/>
          </a:xfrm>
          <a:prstGeom prst="ellipse">
            <a:avLst/>
          </a:prstGeom>
          <a:solidFill>
            <a:srgbClr val="F4610C"/>
          </a:solidFill>
          <a:ln w="12700">
            <a:solidFill>
              <a:srgbClr val="F4610C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914" y="2606954"/>
            <a:ext cx="290779" cy="29077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406640" y="2441448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Caza el logo Primax</a:t>
            </a:r>
            <a:endParaRPr lang="en-US" sz="1500" dirty="0"/>
          </a:p>
        </p:txBody>
      </p:sp>
      <p:sp>
        <p:nvSpPr>
          <p:cNvPr id="17" name="Text 12"/>
          <p:cNvSpPr/>
          <p:nvPr/>
        </p:nvSpPr>
        <p:spPr>
          <a:xfrm>
            <a:off x="9537192" y="2441448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BA9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+100 pts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7406640" y="2862072"/>
            <a:ext cx="3794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A9B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Realidad aumentada: apuntar la cámara al marcador en la estación desbloquea un bono.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40080" y="4114800"/>
            <a:ext cx="5166360" cy="1783080"/>
          </a:xfrm>
          <a:prstGeom prst="roundRect">
            <a:avLst>
              <a:gd name="adj" fmla="val 7179"/>
            </a:avLst>
          </a:prstGeom>
          <a:solidFill>
            <a:srgbClr val="18215C"/>
          </a:solidFill>
          <a:ln w="7620">
            <a:solidFill>
              <a:srgbClr val="FFFFFF">
                <a:alpha val="12000"/>
              </a:srgbClr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30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987552" y="4443984"/>
            <a:ext cx="548640" cy="548640"/>
          </a:xfrm>
          <a:prstGeom prst="ellipse">
            <a:avLst/>
          </a:prstGeom>
          <a:solidFill>
            <a:srgbClr val="F4610C"/>
          </a:solidFill>
          <a:ln w="12700">
            <a:solidFill>
              <a:srgbClr val="F4610C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6482" y="4572914"/>
            <a:ext cx="290779" cy="290779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664208" y="4407408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Retos de visita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3794760" y="4407408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BA9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+150 pts</a:t>
            </a:r>
            <a:endParaRPr lang="en-US" sz="1500" dirty="0"/>
          </a:p>
        </p:txBody>
      </p:sp>
      <p:sp>
        <p:nvSpPr>
          <p:cNvPr id="24" name="Text 18"/>
          <p:cNvSpPr/>
          <p:nvPr/>
        </p:nvSpPr>
        <p:spPr>
          <a:xfrm>
            <a:off x="1664208" y="4828032"/>
            <a:ext cx="3794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A9B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cargas antes del domingo, café antes de las 9 de la mañana, probar Primax Gas.</a:t>
            </a:r>
            <a:endParaRPr lang="en-US" sz="1200" dirty="0"/>
          </a:p>
        </p:txBody>
      </p:sp>
      <p:sp>
        <p:nvSpPr>
          <p:cNvPr id="25" name="Shape 19"/>
          <p:cNvSpPr/>
          <p:nvPr/>
        </p:nvSpPr>
        <p:spPr>
          <a:xfrm>
            <a:off x="6382512" y="4114800"/>
            <a:ext cx="5166360" cy="1783080"/>
          </a:xfrm>
          <a:prstGeom prst="roundRect">
            <a:avLst>
              <a:gd name="adj" fmla="val 7179"/>
            </a:avLst>
          </a:prstGeom>
          <a:solidFill>
            <a:srgbClr val="18215C"/>
          </a:solidFill>
          <a:ln w="7620">
            <a:solidFill>
              <a:srgbClr val="FFFFFF">
                <a:alpha val="12000"/>
              </a:srgbClr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30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6729984" y="4443984"/>
            <a:ext cx="548640" cy="548640"/>
          </a:xfrm>
          <a:prstGeom prst="ellipse">
            <a:avLst/>
          </a:prstGeom>
          <a:solidFill>
            <a:srgbClr val="F4610C"/>
          </a:solidFill>
          <a:ln w="12700">
            <a:solidFill>
              <a:srgbClr val="F4610C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914" y="4572914"/>
            <a:ext cx="290779" cy="290779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7406640" y="4407408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Progresión de nivel</a:t>
            </a:r>
            <a:endParaRPr lang="en-US" sz="1500" dirty="0"/>
          </a:p>
        </p:txBody>
      </p:sp>
      <p:sp>
        <p:nvSpPr>
          <p:cNvPr id="29" name="Text 22"/>
          <p:cNvSpPr/>
          <p:nvPr/>
        </p:nvSpPr>
        <p:spPr>
          <a:xfrm>
            <a:off x="9537192" y="4407408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BA9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Oro → Platino</a:t>
            </a:r>
            <a:endParaRPr lang="en-US" sz="1500" dirty="0"/>
          </a:p>
        </p:txBody>
      </p:sp>
      <p:sp>
        <p:nvSpPr>
          <p:cNvPr id="30" name="Text 23"/>
          <p:cNvSpPr/>
          <p:nvPr/>
        </p:nvSpPr>
        <p:spPr>
          <a:xfrm>
            <a:off x="7406640" y="4828032"/>
            <a:ext cx="3794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A9B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nivel mejora con el consumo y desbloquea descuentos propios en Gas y lubricantes.</a:t>
            </a:r>
            <a:endParaRPr lang="en-US" sz="1200" dirty="0"/>
          </a:p>
        </p:txBody>
      </p:sp>
      <p:sp>
        <p:nvSpPr>
          <p:cNvPr id="31" name="Text 24"/>
          <p:cNvSpPr/>
          <p:nvPr/>
        </p:nvSpPr>
        <p:spPr>
          <a:xfrm>
            <a:off x="640080" y="6153912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F8A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costo por punto entregado es bajo y está acotado por día — el retorno está en la visita, no en el premio.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Primax ID · 5 casos de uso</dc:title>
  <dc:subject>PptxGenJS Presentation</dc:subject>
  <dc:creator>Primax ID</dc:creator>
  <cp:lastModifiedBy>Primax ID</cp:lastModifiedBy>
  <cp:revision>1</cp:revision>
  <dcterms:created xsi:type="dcterms:W3CDTF">2026-08-10T03:51:48Z</dcterms:created>
  <dcterms:modified xsi:type="dcterms:W3CDTF">2026-08-10T03:51:48Z</dcterms:modified>
</cp:coreProperties>
</file>